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E53E3E"/>
                </a:solidFill>
                <a:latin typeface="Calibri"/>
              </a:rPr>
              <a:t>Dhoa (ধোঁয়া)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2E8F0"/>
                </a:solidFill>
                <a:latin typeface="Calibri"/>
              </a:rPr>
              <a:t>Satellite-Powered Brick Kiln Compliance Monitoring for Bangladesh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Calibri"/>
              </a:rPr>
              <a:t>Detecting Environmental Violations from Space — for Inspectors and Citizens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337560"/>
            <a:ext cx="3200400" cy="3657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Team:  [TEAM_MEMBER_1]  ·  [TEAM_MEMBER_2]  ·  [TEAM_MEMBER_3]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88294"/>
                </a:solidFill>
                <a:latin typeface="Calibri"/>
              </a:rPr>
              <a:t>Hack for Humanity Bangladesh 2026  ·  Climate Resilience &amp; Environmental Sustainability Track
AIUB Finale  ·  24 October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53E3E"/>
                </a:solidFill>
                <a:latin typeface="Calibri"/>
              </a:rPr>
              <a:t>The Crisis — Air, Land &amp;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600" b="1">
                <a:solidFill>
                  <a:srgbClr val="E53E3E"/>
                </a:solidFill>
                <a:latin typeface="Calibri"/>
              </a:rPr>
              <a:t>●  </a:t>
            </a:r>
            <a:r>
              <a:rPr sz="1600">
                <a:solidFill>
                  <a:srgbClr val="E2E8F0"/>
                </a:solidFill>
                <a:latin typeface="Calibri"/>
              </a:rPr>
              <a:t>Bangladesh's 7,000+ brick kilns are the single largest source of particulate air pollution — responsible for 40% of winter smog in Dhaka</a:t>
            </a:r>
          </a:p>
          <a:p>
            <a:pPr algn="l">
              <a:spcBef>
                <a:spcPts val="800"/>
              </a:spcBef>
            </a:pPr>
            <a:r>
              <a:rPr sz="1600" b="1">
                <a:solidFill>
                  <a:srgbClr val="E53E3E"/>
                </a:solidFill>
                <a:latin typeface="Calibri"/>
              </a:rPr>
              <a:t>●  </a:t>
            </a:r>
            <a:r>
              <a:rPr sz="1600">
                <a:solidFill>
                  <a:srgbClr val="E2E8F0"/>
                </a:solidFill>
                <a:latin typeface="Calibri"/>
              </a:rPr>
              <a:t>Most operate illegally within 1 km of schools, hospitals, settlements and government forests, directly violating the Brick Burning (Control) Act 2013</a:t>
            </a:r>
          </a:p>
          <a:p>
            <a:pPr algn="l">
              <a:spcBef>
                <a:spcPts val="800"/>
              </a:spcBef>
            </a:pPr>
            <a:r>
              <a:rPr sz="1600" b="1">
                <a:solidFill>
                  <a:srgbClr val="E53E3E"/>
                </a:solidFill>
                <a:latin typeface="Calibri"/>
              </a:rPr>
              <a:t>●  </a:t>
            </a:r>
            <a:r>
              <a:rPr sz="1600">
                <a:solidFill>
                  <a:srgbClr val="E2E8F0"/>
                </a:solidFill>
                <a:latin typeface="Calibri"/>
              </a:rPr>
              <a:t>The Department of Environment has no scalable monitoring tool — enforcement relies entirely on manual field visits</a:t>
            </a:r>
          </a:p>
          <a:p>
            <a:pPr algn="l">
              <a:spcBef>
                <a:spcPts val="800"/>
              </a:spcBef>
            </a:pPr>
            <a:r>
              <a:rPr sz="1600" b="1">
                <a:solidFill>
                  <a:srgbClr val="E53E3E"/>
                </a:solidFill>
                <a:latin typeface="Calibri"/>
              </a:rPr>
              <a:t>●  </a:t>
            </a:r>
            <a:r>
              <a:rPr sz="1600">
                <a:solidFill>
                  <a:srgbClr val="E2E8F0"/>
                </a:solidFill>
                <a:latin typeface="Calibri"/>
              </a:rPr>
              <a:t>[X] million people live within 1 km of a non-compliant kiln with no way to report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800600"/>
            <a:ext cx="11155680" cy="160020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53E3E"/>
                </a:solidFill>
                <a:latin typeface="Calibri"/>
              </a:rPr>
              <a:t>🌍  Climate Angle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Unregulated kilns burn coal and biomass inefficiently, contributing to black carbon emissions that accelerate glacial melt and regional climate disruption.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53E3E"/>
                </a:solidFill>
                <a:latin typeface="Calibri"/>
              </a:rPr>
              <a:t>Dhoa — Eyes in the Sky, Action on the 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We combine NeurIPS-grade satellite AI with Bangladesh's own environmental law to automatically detect, classify and prioritize non-compliant brick kilns at national scale — and put the results in the hands of both inspectors and citizens.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3566160" cy="320040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🛰️ Automated Detection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AI identifies kilns and kiln type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(Zigzag, FCBK) from Sentinel-2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satellite imagery using deep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103120"/>
            <a:ext cx="3566160" cy="320040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⚖️ Rule-Based Prioritization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6 proximity rules from the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Brick Burning (Control) Act 2013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score every kiln automatically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2103120"/>
            <a:ext cx="3566160" cy="320040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📱 Dual Interface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Inspector dashboard for authorities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+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Bengali community view for citizens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53E3E"/>
                </a:solidFill>
                <a:latin typeface="Calibr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1737360"/>
            <a:ext cx="2468880" cy="329184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53E3E"/>
                </a:solidFill>
                <a:latin typeface="Calibri"/>
              </a:rPr>
              <a:t>1. Satellite
Imagery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Sentinel-2 multispectral data over Bangladesh
(Mondal et al. NeurIPS 2025 dataset)</a:t>
            </a:r>
          </a:p>
        </p:txBody>
      </p:sp>
      <p:sp>
        <p:nvSpPr>
          <p:cNvPr id="5" name="Can 4"/>
          <p:cNvSpPr/>
          <p:nvPr/>
        </p:nvSpPr>
        <p:spPr>
          <a:xfrm>
            <a:off x="2871216" y="3154680"/>
            <a:ext cx="502920" cy="457200"/>
          </a:xfrm>
          <a:prstGeom prst="can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74136" y="1737360"/>
            <a:ext cx="2468880" cy="329184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53E3E"/>
                </a:solidFill>
                <a:latin typeface="Calibri"/>
              </a:rPr>
              <a:t>2. AI Kiln
Detection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Deep learning model classifies kiln presence, type and confidence score</a:t>
            </a:r>
          </a:p>
        </p:txBody>
      </p:sp>
      <p:sp>
        <p:nvSpPr>
          <p:cNvPr id="7" name="Can 6"/>
          <p:cNvSpPr/>
          <p:nvPr/>
        </p:nvSpPr>
        <p:spPr>
          <a:xfrm>
            <a:off x="5843016" y="3154680"/>
            <a:ext cx="502920" cy="457200"/>
          </a:xfrm>
          <a:prstGeom prst="can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45936" y="1737360"/>
            <a:ext cx="2468880" cy="329184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53E3E"/>
                </a:solidFill>
                <a:latin typeface="Calibri"/>
              </a:rPr>
              <a:t>3. Compliance
Rule Engine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Each kiln scored against 6 proximity rules: schools, hospitals, railways, forests, settlements, wetlands</a:t>
            </a:r>
          </a:p>
        </p:txBody>
      </p:sp>
      <p:sp>
        <p:nvSpPr>
          <p:cNvPr id="9" name="Can 8"/>
          <p:cNvSpPr/>
          <p:nvPr/>
        </p:nvSpPr>
        <p:spPr>
          <a:xfrm>
            <a:off x="8814816" y="3154680"/>
            <a:ext cx="502920" cy="457200"/>
          </a:xfrm>
          <a:prstGeom prst="can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17736" y="1737360"/>
            <a:ext cx="2468880" cy="329184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53E3E"/>
                </a:solidFill>
                <a:latin typeface="Calibri"/>
              </a:rPr>
              <a:t>4. Dhoa
Dashboard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Interactive map + ranked priority list + PDF reports + community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53E3E"/>
                </a:solidFill>
                <a:latin typeface="Calibri"/>
              </a:rPr>
              <a:t>Data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Dataset:  Mondal et al., NeurIPS 2025 — Bangladesh Brick Kiln Satellite Dataset (CC BY-NC 4.0)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3796" y="1600200"/>
            <a:ext cx="3474720" cy="182880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E53E3E"/>
                </a:solidFill>
                <a:latin typeface="Calibri"/>
              </a:rPr>
              <a:t>2,135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kilns detected across Bangladesh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7116" y="1600200"/>
            <a:ext cx="3474720" cy="182880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E53E3E"/>
                </a:solidFill>
                <a:latin typeface="Calibri"/>
              </a:rPr>
              <a:t>430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flagged as high environmental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8060436" y="1600200"/>
            <a:ext cx="3474720" cy="182880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E53E3E"/>
                </a:solidFill>
                <a:latin typeface="Calibri"/>
              </a:rPr>
              <a:t>1,767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rule violations identified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Rules:  Brick Burning (Control) Act 2013 (amended 2019) — 6 siting rules with buffer distances from 500 m to 2 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605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Model:  [MODEL_ARCHITECTURE]  ·  [ACCURACY]% detection confidence  ·  Zigzag and FCBK kiln types classified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" y="4754880"/>
            <a:ext cx="1737360" cy="822960"/>
          </a:xfrm>
          <a:prstGeom prst="rect">
            <a:avLst/>
          </a:prstGeom>
          <a:solidFill>
            <a:srgbClr val="28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🏫 Schools
1 km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2868" y="4754880"/>
            <a:ext cx="1737360" cy="822960"/>
          </a:xfrm>
          <a:prstGeom prst="rect">
            <a:avLst/>
          </a:prstGeom>
          <a:solidFill>
            <a:srgbClr val="28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🏥 Hospitals
1 km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4820" y="4754880"/>
            <a:ext cx="1737360" cy="822960"/>
          </a:xfrm>
          <a:prstGeom prst="rect">
            <a:avLst/>
          </a:prstGeom>
          <a:solidFill>
            <a:srgbClr val="28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🏘️ Settlements
1 km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6772" y="4754880"/>
            <a:ext cx="1737360" cy="822960"/>
          </a:xfrm>
          <a:prstGeom prst="rect">
            <a:avLst/>
          </a:prstGeom>
          <a:solidFill>
            <a:srgbClr val="28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🚂 Railways
1 km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8724" y="4754880"/>
            <a:ext cx="1737360" cy="822960"/>
          </a:xfrm>
          <a:prstGeom prst="rect">
            <a:avLst/>
          </a:prstGeom>
          <a:solidFill>
            <a:srgbClr val="28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💧 Wetlands
1 km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80676" y="4754880"/>
            <a:ext cx="1737360" cy="822960"/>
          </a:xfrm>
          <a:prstGeom prst="rect">
            <a:avLst/>
          </a:prstGeom>
          <a:solidFill>
            <a:srgbClr val="28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🌲 Govt. Forest
2 km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53E3E"/>
                </a:solidFill>
                <a:latin typeface="Calibri"/>
              </a:rPr>
              <a:t>Inspector View — For Environmental Authorities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6949440" cy="3657600"/>
          </a:xfrm>
          <a:prstGeom prst="rect">
            <a:avLst/>
          </a:prstGeom>
          <a:noFill/>
          <a:ln w="19050">
            <a:solidFill>
              <a:srgbClr val="78909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88294"/>
                </a:solidFill>
                <a:latin typeface="Calibri"/>
              </a:rPr>
              <a:t>[INSERT SCREENSHOT — inspector map showing colored kiln markers and ranked list]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18872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500" b="1">
                <a:solidFill>
                  <a:srgbClr val="E53E3E"/>
                </a:solidFill>
                <a:latin typeface="Calibri"/>
              </a:rPr>
              <a:t>●  </a:t>
            </a:r>
            <a:r>
              <a:rPr sz="1400">
                <a:solidFill>
                  <a:srgbClr val="E2E8F0"/>
                </a:solidFill>
                <a:latin typeface="Calibri"/>
              </a:rPr>
              <a:t>Filter kilns by district and upazila — instantly narrows 2,135 kilns to a manageable inspection list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E53E3E"/>
                </a:solidFill>
                <a:latin typeface="Calibri"/>
              </a:rPr>
              <a:t>●  </a:t>
            </a:r>
            <a:r>
              <a:rPr sz="1400">
                <a:solidFill>
                  <a:srgbClr val="E2E8F0"/>
                </a:solidFill>
                <a:latin typeface="Calibri"/>
              </a:rPr>
              <a:t>Priority-ranked candidate list with breach count, kiln type, and distance to sensitive sites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E53E3E"/>
                </a:solidFill>
                <a:latin typeface="Calibri"/>
              </a:rPr>
              <a:t>●  </a:t>
            </a:r>
            <a:r>
              <a:rPr sz="1400">
                <a:solidFill>
                  <a:srgbClr val="E2E8F0"/>
                </a:solidFill>
                <a:latin typeface="Calibri"/>
              </a:rPr>
              <a:t>One-click PDF report per kiln with full rule signal breakdown — ready for field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53E3E"/>
                </a:solidFill>
                <a:latin typeface="Calibri"/>
              </a:rPr>
              <a:t>Community View — For Every Citizen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6949440" cy="3657600"/>
          </a:xfrm>
          <a:prstGeom prst="rect">
            <a:avLst/>
          </a:prstGeom>
          <a:noFill/>
          <a:ln w="19050">
            <a:solidFill>
              <a:srgbClr val="78909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88294"/>
                </a:solidFill>
                <a:latin typeface="Calibri"/>
              </a:rPr>
              <a:t>[INSERT SCREENSHOT — community search showing nearby kilns and report form]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18872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500" b="1">
                <a:solidFill>
                  <a:srgbClr val="E53E3E"/>
                </a:solidFill>
                <a:latin typeface="Calibri"/>
              </a:rPr>
              <a:t>●  </a:t>
            </a:r>
            <a:r>
              <a:rPr sz="1400">
                <a:solidFill>
                  <a:srgbClr val="E2E8F0"/>
                </a:solidFill>
                <a:latin typeface="Calibri"/>
              </a:rPr>
              <a:t>Search kilns within 1–5 km of any location in Bangladesh — no login required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E53E3E"/>
                </a:solidFill>
                <a:latin typeface="Calibri"/>
              </a:rPr>
              <a:t>●  </a:t>
            </a:r>
            <a:r>
              <a:rPr sz="1400">
                <a:solidFill>
                  <a:srgbClr val="E2E8F0"/>
                </a:solidFill>
                <a:latin typeface="Calibri"/>
              </a:rPr>
              <a:t>Pre-filled complaint text with kiln coordinates and violation details — submit via DoE hotline 16131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E53E3E"/>
                </a:solidFill>
                <a:latin typeface="Calibri"/>
              </a:rPr>
              <a:t>●  </a:t>
            </a:r>
            <a:r>
              <a:rPr sz="1400">
                <a:solidFill>
                  <a:srgbClr val="E2E8F0"/>
                </a:solidFill>
                <a:latin typeface="Calibri"/>
              </a:rPr>
              <a:t>Fully Bengali interface so any citizen, not just officials, can understand and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48006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🇧🇩  Bengali-first interface — সবার জন্য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53E3E"/>
                </a:solidFill>
                <a:latin typeface="Calibri"/>
              </a:rPr>
              <a:t>Impact, Team &amp;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394960" cy="141732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E53E3E"/>
                </a:solidFill>
                <a:latin typeface="Calibri"/>
              </a:rPr>
              <a:t>📈 Scales Enforcement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Scales DoE inspection capacity without adding field staff — prioritized lists replace blind surveys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051560"/>
            <a:ext cx="5394960" cy="141732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E53E3E"/>
                </a:solidFill>
                <a:latin typeface="Calibri"/>
              </a:rPr>
              <a:t>📋 Public Record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Creates a public, satellite-verified record of industrial environmental violations across Bangladesh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97480"/>
            <a:ext cx="5394960" cy="141732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E53E3E"/>
                </a:solidFill>
                <a:latin typeface="Calibri"/>
              </a:rPr>
              <a:t>⚖️ Evidence-Based Law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Enables evidence-based enforcement under existing law — no new legislation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697480"/>
            <a:ext cx="5394960" cy="141732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E53E3E"/>
                </a:solidFill>
                <a:latin typeface="Calibri"/>
              </a:rPr>
              <a:t>🌡️ Climate Accountability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Tracks black carbon sources from space, contributing to Bangladesh's climate accountability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206240"/>
            <a:ext cx="11155680" cy="685800"/>
          </a:xfrm>
          <a:prstGeom prst="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Team:  [TEAM_MEMBER_1 — role]  ·  [TEAM_MEMBER_2 — role]  ·  [TEAM_MEMBER_3 — role]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29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53E3E"/>
                </a:solidFill>
                <a:latin typeface="Calibri"/>
              </a:rPr>
              <a:t>What Comes Next: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949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Real-time satellite feed integration  ·  Official DoE API partnership  ·  Mobile app for field inspectors  ·  Expand to other industrial polluters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Thank you  ·  [GITHUB_LINK]  ·  [DEMO_LINK]  ·  Dhoa — because every breath counts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