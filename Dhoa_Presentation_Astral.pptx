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b09d2be8-f522-7a8d-7e3e-40f892811ba9}">
          <p14:sldIdLst>
            <p14:sldId id="256"/>
          </p14:sldIdLst>
        </p14:section>
        <p14:section name="Problem" id="{cfe23cb2-3da0-4033-bff4-cabe47a95335}">
          <p14:sldIdLst>
            <p14:sldId id="257"/>
          </p14:sldIdLst>
        </p14:section>
        <p14:section name="Approach" id="{038a05c7-3346-d384-6e98-507fbe55d461}">
          <p14:sldIdLst>
            <p14:sldId id="258"/>
          </p14:sldIdLst>
        </p14:section>
        <p14:section name="Evidence" id="{8498e389-05c2-91a3-dd2d-99547e16ed5f}">
          <p14:sldIdLst>
            <p14:sldId id="259"/>
            <p14:sldId id="260"/>
          </p14:sldIdLst>
        </p14:section>
        <p14:section name="Product" id="{4cd5e58c-bfe1-2d7c-3c5d-287b1b2f1168}">
          <p14:sldIdLst>
            <p14:sldId id="261"/>
            <p14:sldId id="262"/>
          </p14:sldIdLst>
        </p14:section>
        <p14:section name="Outlook" id="{00569e3c-711a-277a-68b6-69623c04005d}">
          <p14:sldIdLst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AP50</c:v>
                </c:pt>
              </c:strCache>
            </c:strRef>
          </c:tx>
          <c:spPr>
            <a:solidFill>
              <a:srgbClr val="C2410C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F172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Zigzag</c:v>
                  </c:pt>
                  <c:pt idx="1">
                    <c:v>FCBK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0.904</c:v>
                </c:pt>
                <c:pt idx="1">
                  <c:v>0.601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1" i="0" strike="noStrike" sz="1200" u="none">
                  <a:solidFill>
                    <a:srgbClr val="0F172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1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4F5F7"/>
        </a:solidFill>
        <a:ln>
          <a:noFill/>
        </a:ln>
        <a:effectLst/>
      </c:spPr>
    </c:plotArea>
    <c:plotVisOnly val="1"/>
    <c:dispBlanksAs val="span"/>
  </c:chart>
  <c:spPr>
    <a:solidFill>
      <a:srgbClr val="F4F5F7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Candidates</c:v>
                </c:pt>
              </c:strCache>
            </c:strRef>
          </c:tx>
          <c:spPr>
            <a:solidFill>
              <a:srgbClr val="C2410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F172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Chittagong</c:v>
                  </c:pt>
                  <c:pt idx="1">
                    <c:v>Dhaka</c:v>
                  </c:pt>
                  <c:pt idx="2">
                    <c:v>Chapainawabganj</c:v>
                  </c:pt>
                  <c:pt idx="3">
                    <c:v>Gazipur</c:v>
                  </c:pt>
                  <c:pt idx="4">
                    <c:v>Rajshahi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728</c:v>
                </c:pt>
                <c:pt idx="1">
                  <c:v>613</c:v>
                </c:pt>
                <c:pt idx="2">
                  <c:v>282</c:v>
                </c:pt>
                <c:pt idx="3">
                  <c:v>270</c:v>
                </c:pt>
                <c:pt idx="4">
                  <c:v>257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0F172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0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4F5F7"/>
        </a:solidFill>
        <a:ln>
          <a:noFill/>
        </a:ln>
        <a:effectLst/>
      </c:spPr>
    </c:plotArea>
    <c:plotVisOnly val="1"/>
    <c:dispBlanksAs val="span"/>
  </c:chart>
  <c:spPr>
    <a:solidFill>
      <a:srgbClr val="F4F5F7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[0:00–0:20] "Bangladesh has over 7,000 brick kilns. Most are illegal. None are being monitored at scale. Dhoa changes that." Open dashboard — point to stats bar: 2,135 kilns · 430 high-risk · 1,767 violations. "These numbers come from real satellite imagery analyzed by our AI model — not surveys, not guesswork."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Anchor on the 18 million figure (Lee et al., PNAS 2021, Stanford and icddr,b). Then the siting picture: most kilns are close to schools, some to health facilities. The gap is not awareness; it is that regulators cannot find and prioritize kilns at scale.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right: free imagery, detection, rule-signal screening, prioritization. Close on the advisory framing: Dhoa never decides legal status; it tells a human reviewer where to look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detector results on held-out SentinelKilnDB chips. Be explicit that this is dataset performance, not field accuracy. Right: candidate rows in the processed output for the five pilot districts. These are candidates for review, not a census.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candidate is checked against mapped features such as schools and hospitals. The diagram is illustrative: a sensitive site, a buffer around it, and kiln candidates inside and outside. Mention that distances are to mapped features and may differ from legally controlling boundaries.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[0:20–1:10] Select District: Chapainawabganj → Upazila: Shibganj. Point to ranked list: filtered instantly, worst offenders first. Click ভাটা দেখুন on top High-priority kiln — show rule signal breakdown (red/yellow/green). Click দিকনির্দেশনা for Google Maps navigation. Click PDF download — field-ready report with coordinates and violation 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[1:10–1:50] Switch to কমিউনিটি ভিউ tab. Type Savar, hit search. Point to map: kilns within 2km, color-coded by priority. Scroll to report section — pre-filled complaint: kiln location, violation details, ready to read to the DoE hotline. Point to hotline 16131: the real Department of Environment complaint line. No app store, no account, no English required.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demo and repository. Offer to walk through the dashboard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Dhoa-Title-image-1.jpe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Dhoa-Closing-image-1.jpe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hoa Titl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1828800"/>
            <a:ext cx="65836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8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8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337560"/>
            <a:ext cx="630936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dirty="0">
                <a:solidFill>
                  <a:schemeClr val="accent4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hoa 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502920"/>
            <a:ext cx="10911535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822960"/>
            <a:ext cx="1091153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Dhoa  ·  Team Astral  ·  Hack for Humanity Bangladesh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hoa Closing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1600200"/>
            <a:ext cx="658368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2697480"/>
            <a:ext cx="64008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accent4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6.xml"/><Relationship Id="rId7" Type="http://schemas.openxmlformats.org/officeDocument/2006/relationships/image" Target="../media/screenshot-inspector-main.jpeg"/><Relationship Id="rId8" Type="http://schemas.openxmlformats.org/officeDocument/2006/relationships/image" Target="../media/screenshot-inspector-popup.jpe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7.xml"/><Relationship Id="rId7" Type="http://schemas.openxmlformats.org/officeDocument/2006/relationships/image" Target="../media/screenshot-community-search.jpeg"/><Relationship Id="rId8" Type="http://schemas.openxmlformats.org/officeDocument/2006/relationships/image" Target="../media/screenshot-community-report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hack-for-humanity-dhtqzvofebzbjrsyunlnmz.streamlit.app/" TargetMode="External"/><Relationship Id="rId2" Type="http://schemas.openxmlformats.org/officeDocument/2006/relationships/hyperlink" Target="https://github.com/sheikh2583/Hack-For-Humanity" TargetMode="External"/><Relationship Id="rId3" Type="http://schemas.openxmlformats.org/officeDocument/2006/relationships/image" Target="../media/image-9-1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vent"/>
          <p:cNvSpPr txBox="1"/>
          <p:nvPr/>
        </p:nvSpPr>
        <p:spPr>
          <a:xfrm>
            <a:off x="822960" y="1463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HACK FOR HUMANITY BANGLADESH 2026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822960" y="182880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0" b="1" dirty="0">
                <a:solidFill>
                  <a:schemeClr val="bg1"/>
                </a:solidFill>
              </a:rPr>
              <a:t>Dhoa</a:t>
            </a:r>
            <a:endParaRPr lang="en-US" sz="88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822960" y="3337560"/>
            <a:ext cx="6309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chemeClr val="accent4"/>
                </a:solidFill>
              </a:rPr>
              <a:t>Satellite-based screening to help inspectors prioritize brick kiln inspections in Bangladesh</a:t>
            </a:r>
            <a:endParaRPr lang="en-US" sz="2400" dirty="0"/>
          </a:p>
        </p:txBody>
      </p:sp>
      <p:sp>
        <p:nvSpPr>
          <p:cNvPr id="5" name="Team label"/>
          <p:cNvSpPr txBox="1"/>
          <p:nvPr/>
        </p:nvSpPr>
        <p:spPr>
          <a:xfrm>
            <a:off x="822960" y="5074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2"/>
                </a:solidFill>
              </a:rPr>
              <a:t>TEAM ASTRAL</a:t>
            </a:r>
            <a:endParaRPr lang="en-US" sz="1100" dirty="0"/>
          </a:p>
        </p:txBody>
      </p:sp>
      <p:sp>
        <p:nvSpPr>
          <p:cNvPr id="6" name="Team names"/>
          <p:cNvSpPr txBox="1"/>
          <p:nvPr/>
        </p:nvSpPr>
        <p:spPr>
          <a:xfrm>
            <a:off x="822960" y="53949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Sheikh Mosheul Akbar   ·   Sohom Sattyam</a:t>
            </a:r>
            <a:endParaRPr lang="en-US" sz="1800" dirty="0"/>
          </a:p>
        </p:txBody>
      </p:sp>
      <p:sp>
        <p:nvSpPr>
          <p:cNvPr id="7" name="Track"/>
          <p:cNvSpPr txBox="1"/>
          <p:nvPr/>
        </p:nvSpPr>
        <p:spPr>
          <a:xfrm>
            <a:off x="822960" y="61264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Climate Resilience &amp; Environmental Sustainability Track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5029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THE PROBLEM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82296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Brick kilns put millions of people at risk</a:t>
            </a:r>
            <a:endParaRPr lang="en-US" sz="3200" dirty="0"/>
          </a:p>
        </p:txBody>
      </p:sp>
      <p:sp>
        <p:nvSpPr>
          <p:cNvPr id="5" name="Stat card"/>
          <p:cNvSpPr/>
          <p:nvPr/>
        </p:nvSpPr>
        <p:spPr>
          <a:xfrm>
            <a:off x="640080" y="1783080"/>
            <a:ext cx="4846320" cy="4023360"/>
          </a:xfrm>
          <a:prstGeom prst="roundRect">
            <a:avLst>
              <a:gd name="adj" fmla="val 2727"/>
            </a:avLst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10000"/>
              </a:srgbClr>
            </a:outerShdw>
          </a:effectLst>
        </p:spPr>
      </p:sp>
      <p:sp>
        <p:nvSpPr>
          <p:cNvPr id="6" name="Stat label"/>
          <p:cNvSpPr txBox="1"/>
          <p:nvPr/>
        </p:nvSpPr>
        <p:spPr>
          <a:xfrm>
            <a:off x="1051560" y="2194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2"/>
                </a:solidFill>
              </a:rPr>
              <a:t>AT RISK</a:t>
            </a:r>
            <a:endParaRPr lang="en-US" sz="1100" dirty="0"/>
          </a:p>
        </p:txBody>
      </p:sp>
      <p:sp>
        <p:nvSpPr>
          <p:cNvPr id="7" name="Stat value"/>
          <p:cNvSpPr txBox="1"/>
          <p:nvPr/>
        </p:nvSpPr>
        <p:spPr>
          <a:xfrm>
            <a:off x="1051560" y="2606040"/>
            <a:ext cx="4023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18M+</a:t>
            </a:r>
            <a:endParaRPr lang="en-US" sz="8800" dirty="0"/>
          </a:p>
        </p:txBody>
      </p:sp>
      <p:sp>
        <p:nvSpPr>
          <p:cNvPr id="8" name="Stat caption"/>
          <p:cNvSpPr txBox="1"/>
          <p:nvPr/>
        </p:nvSpPr>
        <p:spPr>
          <a:xfrm>
            <a:off x="1051560" y="425196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4"/>
                </a:solidFill>
              </a:rPr>
              <a:t>people live within 1 km of a brick kiln in Bangladesh</a:t>
            </a:r>
            <a:endParaRPr lang="en-US" sz="2000" dirty="0"/>
          </a:p>
        </p:txBody>
      </p:sp>
      <p:sp>
        <p:nvSpPr>
          <p:cNvPr id="9" name="Row card 1"/>
          <p:cNvSpPr/>
          <p:nvPr/>
        </p:nvSpPr>
        <p:spPr>
          <a:xfrm>
            <a:off x="5943600" y="1783080"/>
            <a:ext cx="5605272" cy="896112"/>
          </a:xfrm>
          <a:prstGeom prst="roundRect">
            <a:avLst>
              <a:gd name="adj" fmla="val 12245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0" name="Thousands of kilns, mostly informal. circle"/>
          <p:cNvSpPr/>
          <p:nvPr/>
        </p:nvSpPr>
        <p:spPr>
          <a:xfrm>
            <a:off x="6199632" y="1947672"/>
            <a:ext cx="566928" cy="566928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pic>
        <p:nvPicPr>
          <p:cNvPr id="11" name="Thousands of kilns, mostly informal." descr="Thousands of kilns, mostly informal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35695" y="2083735"/>
            <a:ext cx="294803" cy="294803"/>
          </a:xfrm>
          <a:prstGeom prst="rect">
            <a:avLst/>
          </a:prstGeom>
        </p:spPr>
      </p:pic>
      <p:sp>
        <p:nvSpPr>
          <p:cNvPr id="12" name="Row text 1"/>
          <p:cNvSpPr txBox="1"/>
          <p:nvPr/>
        </p:nvSpPr>
        <p:spPr>
          <a:xfrm>
            <a:off x="6995160" y="1783080"/>
            <a:ext cx="4389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Thousands of kilns, mostly informal.</a:t>
            </a:r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 The exact number is unknown.</a:t>
            </a:r>
            <a:endParaRPr lang="en-US" sz="1600" dirty="0"/>
          </a:p>
        </p:txBody>
      </p:sp>
      <p:sp>
        <p:nvSpPr>
          <p:cNvPr id="13" name="Row card 2"/>
          <p:cNvSpPr/>
          <p:nvPr/>
        </p:nvSpPr>
        <p:spPr>
          <a:xfrm>
            <a:off x="5943600" y="2825496"/>
            <a:ext cx="5605272" cy="896112"/>
          </a:xfrm>
          <a:prstGeom prst="roundRect">
            <a:avLst>
              <a:gd name="adj" fmla="val 12245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4" name="Over 75% of kilns circle"/>
          <p:cNvSpPr/>
          <p:nvPr/>
        </p:nvSpPr>
        <p:spPr>
          <a:xfrm>
            <a:off x="6199632" y="2990088"/>
            <a:ext cx="566928" cy="566928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pic>
        <p:nvPicPr>
          <p:cNvPr id="15" name="Over 75% of kilns" descr="Over 75% of kiln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5695" y="3126151"/>
            <a:ext cx="294803" cy="294803"/>
          </a:xfrm>
          <a:prstGeom prst="rect">
            <a:avLst/>
          </a:prstGeom>
        </p:spPr>
      </p:pic>
      <p:sp>
        <p:nvSpPr>
          <p:cNvPr id="16" name="Row text 2"/>
          <p:cNvSpPr txBox="1"/>
          <p:nvPr/>
        </p:nvSpPr>
        <p:spPr>
          <a:xfrm>
            <a:off x="6995160" y="2825496"/>
            <a:ext cx="4389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Over 75% of kilns</a:t>
            </a:r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 sit within 1 km of a school.</a:t>
            </a:r>
            <a:endParaRPr lang="en-US" sz="1600" dirty="0"/>
          </a:p>
        </p:txBody>
      </p:sp>
      <p:sp>
        <p:nvSpPr>
          <p:cNvPr id="17" name="Row card 3"/>
          <p:cNvSpPr/>
          <p:nvPr/>
        </p:nvSpPr>
        <p:spPr>
          <a:xfrm>
            <a:off x="5943600" y="3867912"/>
            <a:ext cx="5605272" cy="896112"/>
          </a:xfrm>
          <a:prstGeom prst="roundRect">
            <a:avLst>
              <a:gd name="adj" fmla="val 12245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8" name="Nearly 10% of kilns circle"/>
          <p:cNvSpPr/>
          <p:nvPr/>
        </p:nvSpPr>
        <p:spPr>
          <a:xfrm>
            <a:off x="6199632" y="4032504"/>
            <a:ext cx="566928" cy="566928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pic>
        <p:nvPicPr>
          <p:cNvPr id="19" name="Nearly 10% of kilns" descr="Nearly 10% of kiln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5695" y="4168567"/>
            <a:ext cx="294803" cy="294803"/>
          </a:xfrm>
          <a:prstGeom prst="rect">
            <a:avLst/>
          </a:prstGeom>
        </p:spPr>
      </p:pic>
      <p:sp>
        <p:nvSpPr>
          <p:cNvPr id="20" name="Row text 3"/>
          <p:cNvSpPr txBox="1"/>
          <p:nvPr/>
        </p:nvSpPr>
        <p:spPr>
          <a:xfrm>
            <a:off x="6995160" y="3867912"/>
            <a:ext cx="4389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Nearly 10% of kilns</a:t>
            </a:r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 sit within 1 km of a health facility.</a:t>
            </a:r>
            <a:endParaRPr lang="en-US" sz="1600" dirty="0"/>
          </a:p>
        </p:txBody>
      </p:sp>
      <p:sp>
        <p:nvSpPr>
          <p:cNvPr id="21" name="Row card 4"/>
          <p:cNvSpPr/>
          <p:nvPr/>
        </p:nvSpPr>
        <p:spPr>
          <a:xfrm>
            <a:off x="5943600" y="4910328"/>
            <a:ext cx="5605272" cy="896112"/>
          </a:xfrm>
          <a:prstGeom prst="roundRect">
            <a:avLst>
              <a:gd name="adj" fmla="val 12245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2" name="No scalable way circle"/>
          <p:cNvSpPr/>
          <p:nvPr/>
        </p:nvSpPr>
        <p:spPr>
          <a:xfrm>
            <a:off x="6199632" y="5074920"/>
            <a:ext cx="566928" cy="566928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pic>
        <p:nvPicPr>
          <p:cNvPr id="23" name="No scalable way" descr="No scalable way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5695" y="5210983"/>
            <a:ext cx="294803" cy="294803"/>
          </a:xfrm>
          <a:prstGeom prst="rect">
            <a:avLst/>
          </a:prstGeom>
        </p:spPr>
      </p:pic>
      <p:sp>
        <p:nvSpPr>
          <p:cNvPr id="24" name="Row text 4"/>
          <p:cNvSpPr txBox="1"/>
          <p:nvPr/>
        </p:nvSpPr>
        <p:spPr>
          <a:xfrm>
            <a:off x="6995160" y="4910328"/>
            <a:ext cx="4389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No scalable way</a:t>
            </a:r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 for regulators to find and prioritize kilns.</a:t>
            </a:r>
            <a:endParaRPr lang="en-US" sz="1600" dirty="0"/>
          </a:p>
        </p:txBody>
      </p:sp>
      <p:sp>
        <p:nvSpPr>
          <p:cNvPr id="25" name="Source"/>
          <p:cNvSpPr txBox="1"/>
          <p:nvPr/>
        </p:nvSpPr>
        <p:spPr>
          <a:xfrm>
            <a:off x="640080" y="59436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Source: Lee et al., “Scalable deep learning to identify brick kilns and aid regulatory capacity,” PNAS, 2021.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5029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THE APPROACH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82296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From satellite imagery to a ranked review queue</a:t>
            </a:r>
            <a:endParaRPr lang="en-US" sz="3200" dirty="0"/>
          </a:p>
        </p:txBody>
      </p:sp>
      <p:sp>
        <p:nvSpPr>
          <p:cNvPr id="5" name="Step card 01"/>
          <p:cNvSpPr/>
          <p:nvPr/>
        </p:nvSpPr>
        <p:spPr>
          <a:xfrm>
            <a:off x="640080" y="1783080"/>
            <a:ext cx="2523744" cy="30175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6" name="Step number 01"/>
          <p:cNvSpPr txBox="1"/>
          <p:nvPr/>
        </p:nvSpPr>
        <p:spPr>
          <a:xfrm>
            <a:off x="914400" y="2011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01</a:t>
            </a:r>
            <a:endParaRPr lang="en-US" sz="1300" dirty="0"/>
          </a:p>
        </p:txBody>
      </p:sp>
      <p:sp>
        <p:nvSpPr>
          <p:cNvPr id="7" name="Observe circle"/>
          <p:cNvSpPr/>
          <p:nvPr/>
        </p:nvSpPr>
        <p:spPr>
          <a:xfrm>
            <a:off x="914400" y="2423160"/>
            <a:ext cx="640080" cy="640080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35" name="Advisory text"/>
          <p:cNvSpPr txBox="1"/>
          <p:nvPr/>
        </p:nvSpPr>
        <p:spPr>
          <a:xfrm>
            <a:off x="1737360" y="5074920"/>
            <a:ext cx="95399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Advisory by design.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Every output is a screening candidate for human review, not a legal determination.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5029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THE EVIDENCE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82296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 working prototype across five districts</a:t>
            </a:r>
            <a:endParaRPr lang="en-US" sz="3200" dirty="0"/>
          </a:p>
        </p:txBody>
      </p:sp>
      <p:sp>
        <p:nvSpPr>
          <p:cNvPr id="5" name="Model card"/>
          <p:cNvSpPr/>
          <p:nvPr/>
        </p:nvSpPr>
        <p:spPr>
          <a:xfrm>
            <a:off x="640080" y="1783080"/>
            <a:ext cx="5394960" cy="3931920"/>
          </a:xfrm>
          <a:prstGeom prst="roundRect">
            <a:avLst>
              <a:gd name="adj" fmla="val 2791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6" name="Model heading"/>
          <p:cNvSpPr txBox="1"/>
          <p:nvPr/>
        </p:nvSpPr>
        <p:spPr>
          <a:xfrm>
            <a:off x="960120" y="2011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Detection model</a:t>
            </a:r>
            <a:endParaRPr lang="en-US" sz="2000" dirty="0"/>
          </a:p>
        </p:txBody>
      </p:sp>
      <p:sp>
        <p:nvSpPr>
          <p:cNvPr id="7" name="Model subhead"/>
          <p:cNvSpPr txBox="1"/>
          <p:nvPr/>
        </p:nvSpPr>
        <p:spPr>
          <a:xfrm>
            <a:off x="960120" y="23591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Held-out SentinelKilnDB test chips</a:t>
            </a:r>
            <a:endParaRPr lang="en-US" sz="1200" dirty="0"/>
          </a:p>
        </p:txBody>
      </p:sp>
      <p:sp>
        <p:nvSpPr>
          <p:cNvPr id="8" name="Metric mAP50"/>
          <p:cNvSpPr txBox="1"/>
          <p:nvPr/>
        </p:nvSpPr>
        <p:spPr>
          <a:xfrm>
            <a:off x="960120" y="27889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0.752</a:t>
            </a:r>
            <a:endParaRPr lang="en-US" sz="3400" dirty="0"/>
          </a:p>
        </p:txBody>
      </p:sp>
      <p:sp>
        <p:nvSpPr>
          <p:cNvPr id="9" name="Metric label mAP50"/>
          <p:cNvSpPr txBox="1"/>
          <p:nvPr/>
        </p:nvSpPr>
        <p:spPr>
          <a:xfrm>
            <a:off x="960120" y="33375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mAP50</a:t>
            </a:r>
            <a:endParaRPr lang="en-US" sz="1300" dirty="0"/>
          </a:p>
        </p:txBody>
      </p:sp>
      <p:sp>
        <p:nvSpPr>
          <p:cNvPr id="10" name="Metric Precision"/>
          <p:cNvSpPr txBox="1"/>
          <p:nvPr/>
        </p:nvSpPr>
        <p:spPr>
          <a:xfrm>
            <a:off x="2606040" y="27889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0.699</a:t>
            </a:r>
            <a:endParaRPr lang="en-US" sz="3400" dirty="0"/>
          </a:p>
        </p:txBody>
      </p:sp>
      <p:sp>
        <p:nvSpPr>
          <p:cNvPr id="11" name="Metric label Precision"/>
          <p:cNvSpPr txBox="1"/>
          <p:nvPr/>
        </p:nvSpPr>
        <p:spPr>
          <a:xfrm>
            <a:off x="2606040" y="33375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Precision</a:t>
            </a:r>
            <a:endParaRPr lang="en-US" sz="1300" dirty="0"/>
          </a:p>
        </p:txBody>
      </p:sp>
      <p:sp>
        <p:nvSpPr>
          <p:cNvPr id="12" name="Metric Recall"/>
          <p:cNvSpPr txBox="1"/>
          <p:nvPr/>
        </p:nvSpPr>
        <p:spPr>
          <a:xfrm>
            <a:off x="4251960" y="27889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0.734</a:t>
            </a:r>
            <a:endParaRPr lang="en-US" sz="3400" dirty="0"/>
          </a:p>
        </p:txBody>
      </p:sp>
      <p:sp>
        <p:nvSpPr>
          <p:cNvPr id="13" name="Metric label Recall"/>
          <p:cNvSpPr txBox="1"/>
          <p:nvPr/>
        </p:nvSpPr>
        <p:spPr>
          <a:xfrm>
            <a:off x="4251960" y="33375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Recall</a:t>
            </a:r>
            <a:endParaRPr lang="en-US" sz="1300" dirty="0"/>
          </a:p>
        </p:txBody>
      </p:sp>
      <p:sp>
        <p:nvSpPr>
          <p:cNvPr id="14" name="Chart heading AP50"/>
          <p:cNvSpPr txBox="1"/>
          <p:nvPr/>
        </p:nvSpPr>
        <p:spPr>
          <a:xfrm>
            <a:off x="960120" y="3840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AP50 by kiln type</a:t>
            </a:r>
            <a:endParaRPr lang="en-US" sz="1300" dirty="0"/>
          </a:p>
        </p:txBody>
      </p:sp>
      <p:graphicFrame>
        <p:nvGraphicFramePr>
          <p:cNvPr id="15" name="AP50 chart" descr=""/>
          <p:cNvGraphicFramePr/>
          <p:nvPr/>
        </p:nvGraphicFramePr>
        <p:xfrm>
          <a:off x="868680" y="4114800"/>
          <a:ext cx="4937760" cy="1463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Coverage card"/>
          <p:cNvSpPr/>
          <p:nvPr/>
        </p:nvSpPr>
        <p:spPr>
          <a:xfrm>
            <a:off x="6309360" y="1783080"/>
            <a:ext cx="5239512" cy="3931920"/>
          </a:xfrm>
          <a:prstGeom prst="roundRect">
            <a:avLst>
              <a:gd name="adj" fmla="val 2791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7" name="Coverage heading"/>
          <p:cNvSpPr txBox="1"/>
          <p:nvPr/>
        </p:nvSpPr>
        <p:spPr>
          <a:xfrm>
            <a:off x="6629400" y="2011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 coverage</a:t>
            </a:r>
            <a:endParaRPr lang="en-US" sz="2000" dirty="0"/>
          </a:p>
        </p:txBody>
      </p:sp>
      <p:sp>
        <p:nvSpPr>
          <p:cNvPr id="18" name="Coverage subhead"/>
          <p:cNvSpPr txBox="1"/>
          <p:nvPr/>
        </p:nvSpPr>
        <p:spPr>
          <a:xfrm>
            <a:off x="6629400" y="23591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2,150 candidate rows across five districts</a:t>
            </a:r>
            <a:endParaRPr lang="en-US" sz="1200" dirty="0"/>
          </a:p>
        </p:txBody>
      </p:sp>
      <p:graphicFrame>
        <p:nvGraphicFramePr>
          <p:cNvPr id="19" name="District chart" descr=""/>
          <p:cNvGraphicFramePr/>
          <p:nvPr/>
        </p:nvGraphicFramePr>
        <p:xfrm>
          <a:off x="6492240" y="2788920"/>
          <a:ext cx="4892040" cy="2788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0" name="Evidence footnote"/>
          <p:cNvSpPr txBox="1"/>
          <p:nvPr/>
        </p:nvSpPr>
        <p:spPr>
          <a:xfrm>
            <a:off x="640080" y="5833872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Metrics describe held-out dataset chips, not field accuracy. Counts are candidate rows, not a census of kilns. Dataset: SentinelKilnDB, Mondal et al., NeurIPS 2025 (CC BY-NC 4.0).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5029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SCREENING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82296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Siting-rule signals for every candidate</a:t>
            </a:r>
            <a:endParaRPr lang="en-US" sz="3200" dirty="0"/>
          </a:p>
        </p:txBody>
      </p:sp>
      <p:sp>
        <p:nvSpPr>
          <p:cNvPr id="5" name="Signals intro"/>
          <p:cNvSpPr txBox="1"/>
          <p:nvPr/>
        </p:nvSpPr>
        <p:spPr>
          <a:xfrm>
            <a:off x="640080" y="1783080"/>
            <a:ext cx="585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Each candidate is compared with mapped sensitive features, informed by the Brick Manufacturing and Kiln Establishment (Control) Act, 2013.</a:t>
            </a:r>
            <a:endParaRPr lang="en-US" sz="1500" dirty="0"/>
          </a:p>
        </p:txBody>
      </p:sp>
      <p:sp>
        <p:nvSpPr>
          <p:cNvPr id="6" name="Signal card Schools"/>
          <p:cNvSpPr/>
          <p:nvPr/>
        </p:nvSpPr>
        <p:spPr>
          <a:xfrm>
            <a:off x="640080" y="2743200"/>
            <a:ext cx="283464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7" name="Schools circle"/>
          <p:cNvSpPr/>
          <p:nvPr/>
        </p:nvSpPr>
        <p:spPr>
          <a:xfrm>
            <a:off x="841248" y="2894076"/>
            <a:ext cx="566928" cy="566928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pic>
        <p:nvPicPr>
          <p:cNvPr id="8" name="Schools" descr="School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7311" y="3030139"/>
            <a:ext cx="294803" cy="294803"/>
          </a:xfrm>
          <a:prstGeom prst="rect">
            <a:avLst/>
          </a:prstGeom>
        </p:spPr>
      </p:pic>
      <p:sp>
        <p:nvSpPr>
          <p:cNvPr id="9" name="Signal label Schools"/>
          <p:cNvSpPr txBox="1"/>
          <p:nvPr/>
        </p:nvSpPr>
        <p:spPr>
          <a:xfrm>
            <a:off x="1600200" y="274320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Schools</a:t>
            </a:r>
            <a:endParaRPr lang="en-US" sz="1600" dirty="0"/>
          </a:p>
        </p:txBody>
      </p:sp>
      <p:sp>
        <p:nvSpPr>
          <p:cNvPr id="10" name="Signal card Hospitals"/>
          <p:cNvSpPr/>
          <p:nvPr/>
        </p:nvSpPr>
        <p:spPr>
          <a:xfrm>
            <a:off x="3657600" y="2743200"/>
            <a:ext cx="283464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1" name="Hospitals circle"/>
          <p:cNvSpPr/>
          <p:nvPr/>
        </p:nvSpPr>
        <p:spPr>
          <a:xfrm>
            <a:off x="3858768" y="2894076"/>
            <a:ext cx="566928" cy="566928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pic>
        <p:nvPicPr>
          <p:cNvPr id="12" name="Hospitals" descr="Hospital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4831" y="3030139"/>
            <a:ext cx="294803" cy="294803"/>
          </a:xfrm>
          <a:prstGeom prst="rect">
            <a:avLst/>
          </a:prstGeom>
        </p:spPr>
      </p:pic>
      <p:sp>
        <p:nvSpPr>
          <p:cNvPr id="13" name="Signal label Hospitals"/>
          <p:cNvSpPr txBox="1"/>
          <p:nvPr/>
        </p:nvSpPr>
        <p:spPr>
          <a:xfrm>
            <a:off x="4617720" y="274320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Hospitals</a:t>
            </a:r>
            <a:endParaRPr lang="en-US" sz="1600" dirty="0"/>
          </a:p>
        </p:txBody>
      </p:sp>
      <p:sp>
        <p:nvSpPr>
          <p:cNvPr id="14" name="Signal card Settlements"/>
          <p:cNvSpPr/>
          <p:nvPr/>
        </p:nvSpPr>
        <p:spPr>
          <a:xfrm>
            <a:off x="640080" y="3767328"/>
            <a:ext cx="283464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5" name="Settlements circle"/>
          <p:cNvSpPr/>
          <p:nvPr/>
        </p:nvSpPr>
        <p:spPr>
          <a:xfrm>
            <a:off x="841248" y="3918204"/>
            <a:ext cx="566928" cy="566928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pic>
        <p:nvPicPr>
          <p:cNvPr id="16" name="Settlements" descr="Settlement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311" y="4054267"/>
            <a:ext cx="294803" cy="294803"/>
          </a:xfrm>
          <a:prstGeom prst="rect">
            <a:avLst/>
          </a:prstGeom>
        </p:spPr>
      </p:pic>
      <p:sp>
        <p:nvSpPr>
          <p:cNvPr id="17" name="Signal label Settlements"/>
          <p:cNvSpPr txBox="1"/>
          <p:nvPr/>
        </p:nvSpPr>
        <p:spPr>
          <a:xfrm>
            <a:off x="1600200" y="3767328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Settlements</a:t>
            </a:r>
            <a:endParaRPr lang="en-US" sz="1600" dirty="0"/>
          </a:p>
        </p:txBody>
      </p:sp>
      <p:sp>
        <p:nvSpPr>
          <p:cNvPr id="18" name="Signal card Railways"/>
          <p:cNvSpPr/>
          <p:nvPr/>
        </p:nvSpPr>
        <p:spPr>
          <a:xfrm>
            <a:off x="3657600" y="3767328"/>
            <a:ext cx="283464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9" name="Railways circle"/>
          <p:cNvSpPr/>
          <p:nvPr/>
        </p:nvSpPr>
        <p:spPr>
          <a:xfrm>
            <a:off x="3858768" y="3918204"/>
            <a:ext cx="566928" cy="566928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pic>
        <p:nvPicPr>
          <p:cNvPr id="20" name="Railways" descr="Railway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4831" y="4054267"/>
            <a:ext cx="294803" cy="294803"/>
          </a:xfrm>
          <a:prstGeom prst="rect">
            <a:avLst/>
          </a:prstGeom>
        </p:spPr>
      </p:pic>
      <p:sp>
        <p:nvSpPr>
          <p:cNvPr id="21" name="Signal label Railways"/>
          <p:cNvSpPr txBox="1"/>
          <p:nvPr/>
        </p:nvSpPr>
        <p:spPr>
          <a:xfrm>
            <a:off x="4617720" y="3767328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Railways</a:t>
            </a:r>
            <a:endParaRPr lang="en-US" sz="1600" dirty="0"/>
          </a:p>
        </p:txBody>
      </p:sp>
      <p:sp>
        <p:nvSpPr>
          <p:cNvPr id="22" name="Signal card Wetlands"/>
          <p:cNvSpPr/>
          <p:nvPr/>
        </p:nvSpPr>
        <p:spPr>
          <a:xfrm>
            <a:off x="640080" y="4791456"/>
            <a:ext cx="283464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3" name="Wetlands circle"/>
          <p:cNvSpPr/>
          <p:nvPr/>
        </p:nvSpPr>
        <p:spPr>
          <a:xfrm>
            <a:off x="841248" y="4942332"/>
            <a:ext cx="566928" cy="566928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pic>
        <p:nvPicPr>
          <p:cNvPr id="24" name="Wetlands" descr="Wetland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7311" y="5078395"/>
            <a:ext cx="294803" cy="294803"/>
          </a:xfrm>
          <a:prstGeom prst="rect">
            <a:avLst/>
          </a:prstGeom>
        </p:spPr>
      </p:pic>
      <p:sp>
        <p:nvSpPr>
          <p:cNvPr id="25" name="Signal label Wetlands"/>
          <p:cNvSpPr txBox="1"/>
          <p:nvPr/>
        </p:nvSpPr>
        <p:spPr>
          <a:xfrm>
            <a:off x="1600200" y="4791456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Wetlands</a:t>
            </a:r>
            <a:endParaRPr lang="en-US" sz="1600" dirty="0"/>
          </a:p>
        </p:txBody>
      </p:sp>
      <p:sp>
        <p:nvSpPr>
          <p:cNvPr id="26" name="Signal card Government forests"/>
          <p:cNvSpPr/>
          <p:nvPr/>
        </p:nvSpPr>
        <p:spPr>
          <a:xfrm>
            <a:off x="3657600" y="4791456"/>
            <a:ext cx="283464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7" name="Government forests circle"/>
          <p:cNvSpPr/>
          <p:nvPr/>
        </p:nvSpPr>
        <p:spPr>
          <a:xfrm>
            <a:off x="3858768" y="4942332"/>
            <a:ext cx="566928" cy="566928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pic>
        <p:nvPicPr>
          <p:cNvPr id="28" name="Government forests" descr="Government forest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94831" y="5078395"/>
            <a:ext cx="294803" cy="294803"/>
          </a:xfrm>
          <a:prstGeom prst="rect">
            <a:avLst/>
          </a:prstGeom>
        </p:spPr>
      </p:pic>
      <p:sp>
        <p:nvSpPr>
          <p:cNvPr id="29" name="Signal label Government forests"/>
          <p:cNvSpPr txBox="1"/>
          <p:nvPr/>
        </p:nvSpPr>
        <p:spPr>
          <a:xfrm>
            <a:off x="4617720" y="4791456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Government forests</a:t>
            </a:r>
            <a:endParaRPr lang="en-US" sz="1600" dirty="0"/>
          </a:p>
        </p:txBody>
      </p:sp>
      <p:sp>
        <p:nvSpPr>
          <p:cNvPr id="30" name="Signals note"/>
          <p:cNvSpPr txBox="1"/>
          <p:nvPr/>
        </p:nvSpPr>
        <p:spPr>
          <a:xfrm>
            <a:off x="640080" y="585216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A separate technology signal flags FCBK kilns. Signals are screening proxies; mapped distances may differ from legally controlling boundaries.</a:t>
            </a:r>
            <a:endParaRPr lang="en-US" sz="1100" dirty="0"/>
          </a:p>
        </p:txBody>
      </p:sp>
      <p:pic>
        <p:nvPicPr>
          <p:cNvPr id="31" name="Buffer diagram" descr="Illustrative diagram of a sensitive site with buffer rings and kiln candidates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0" y="1783080"/>
            <a:ext cx="4690872" cy="3027360"/>
          </a:xfrm>
          <a:prstGeom prst="rect">
            <a:avLst/>
          </a:prstGeom>
        </p:spPr>
      </p:pic>
      <p:sp>
        <p:nvSpPr>
          <p:cNvPr id="32" name="Diagram border"/>
          <p:cNvSpPr/>
          <p:nvPr/>
        </p:nvSpPr>
        <p:spPr>
          <a:xfrm>
            <a:off x="6858000" y="1783080"/>
            <a:ext cx="4690872" cy="3027360"/>
          </a:xfrm>
          <a:prstGeom prst="rect">
            <a:avLst/>
          </a:prstGeom>
          <a:ln w="12700">
            <a:solidFill>
              <a:schemeClr val="accent5"/>
            </a:solidFill>
            <a:prstDash val="solid"/>
          </a:ln>
        </p:spPr>
      </p:sp>
      <p:sp>
        <p:nvSpPr>
          <p:cNvPr id="33" name="Legend site"/>
          <p:cNvSpPr/>
          <p:nvPr/>
        </p:nvSpPr>
        <p:spPr>
          <a:xfrm>
            <a:off x="6858000" y="5111496"/>
            <a:ext cx="182880" cy="18288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4" name="Legend site text"/>
          <p:cNvSpPr txBox="1"/>
          <p:nvPr/>
        </p:nvSpPr>
        <p:spPr>
          <a:xfrm>
            <a:off x="7178040" y="507492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Sensitive site (school, hospital…)</a:t>
            </a:r>
            <a:endParaRPr lang="en-US" sz="1300" dirty="0"/>
          </a:p>
        </p:txBody>
      </p:sp>
      <p:sp>
        <p:nvSpPr>
          <p:cNvPr id="35" name="Legend buffer"/>
          <p:cNvSpPr/>
          <p:nvPr/>
        </p:nvSpPr>
        <p:spPr>
          <a:xfrm>
            <a:off x="6858000" y="5422392"/>
            <a:ext cx="182880" cy="182880"/>
          </a:xfrm>
          <a:prstGeom prst="ellipse">
            <a:avLst/>
          </a:prstGeom>
          <a:ln w="15875">
            <a:solidFill>
              <a:schemeClr val="accent3"/>
            </a:solidFill>
            <a:prstDash val="solid"/>
          </a:ln>
        </p:spPr>
      </p:sp>
      <p:sp>
        <p:nvSpPr>
          <p:cNvPr id="36" name="Legend buffer text"/>
          <p:cNvSpPr txBox="1"/>
          <p:nvPr/>
        </p:nvSpPr>
        <p:spPr>
          <a:xfrm>
            <a:off x="7178040" y="5385816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Buffer distance around a site</a:t>
            </a:r>
            <a:endParaRPr lang="en-US" sz="1300" dirty="0"/>
          </a:p>
        </p:txBody>
      </p:sp>
      <p:sp>
        <p:nvSpPr>
          <p:cNvPr id="37" name="Legend kiln"/>
          <p:cNvSpPr/>
          <p:nvPr/>
        </p:nvSpPr>
        <p:spPr>
          <a:xfrm>
            <a:off x="6858000" y="5733288"/>
            <a:ext cx="182880" cy="182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8" name="Legend kiln text"/>
          <p:cNvSpPr txBox="1"/>
          <p:nvPr/>
        </p:nvSpPr>
        <p:spPr>
          <a:xfrm>
            <a:off x="7178040" y="569671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Kiln candidate</a:t>
            </a:r>
            <a:endParaRPr lang="en-US" sz="1300" dirty="0"/>
          </a:p>
        </p:txBody>
      </p:sp>
      <p:sp>
        <p:nvSpPr>
          <p:cNvPr id="39" name="Diagram caption"/>
          <p:cNvSpPr txBox="1"/>
          <p:nvPr/>
        </p:nvSpPr>
        <p:spPr>
          <a:xfrm>
            <a:off x="6858000" y="6053328"/>
            <a:ext cx="4690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Illustrative diagram, not to scale.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ilter the queue circle"/>
          <p:cNvSpPr/>
          <p:nvPr/>
        </p:nvSpPr>
        <p:spPr>
          <a:xfrm>
            <a:off x="7863840" y="1828800"/>
            <a:ext cx="566928" cy="566928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pic>
        <p:nvPicPr>
          <p:cNvPr id="14" name="Filter the queue" descr="Filter the que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9903" y="1964863"/>
            <a:ext cx="294803" cy="294803"/>
          </a:xfrm>
          <a:prstGeom prst="rect">
            <a:avLst/>
          </a:prstGeom>
        </p:spPr>
      </p:pic>
      <p:sp>
        <p:nvSpPr>
          <p:cNvPr id="15" name="Filter the queue text"/>
          <p:cNvSpPr txBox="1"/>
          <p:nvPr/>
        </p:nvSpPr>
        <p:spPr>
          <a:xfrm>
            <a:off x="8686800" y="1783080"/>
            <a:ext cx="28620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Select District &amp; Upazila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Instantly filtered to that upazila — every kiln ranked by violations.</a:t>
            </a:r>
            <a:endParaRPr lang="en-US" sz="1500" dirty="0"/>
          </a:p>
        </p:txBody>
      </p:sp>
      <p:sp>
        <p:nvSpPr>
          <p:cNvPr id="16" name="Ranked list and map circle"/>
          <p:cNvSpPr/>
          <p:nvPr/>
        </p:nvSpPr>
        <p:spPr>
          <a:xfrm>
            <a:off x="7863840" y="3200400"/>
            <a:ext cx="566928" cy="566928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pic>
        <p:nvPicPr>
          <p:cNvPr id="17" name="Ranked list and map" descr="Ranked list and map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9903" y="3336463"/>
            <a:ext cx="294803" cy="294803"/>
          </a:xfrm>
          <a:prstGeom prst="rect">
            <a:avLst/>
          </a:prstGeom>
        </p:spPr>
      </p:pic>
      <p:sp>
        <p:nvSpPr>
          <p:cNvPr id="18" name="Ranked list and map text"/>
          <p:cNvSpPr txBox="1"/>
          <p:nvPr/>
        </p:nvSpPr>
        <p:spPr>
          <a:xfrm>
            <a:off x="8686800" y="3154680"/>
            <a:ext cx="28620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Rule signal breakdown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Red = violation, yellow = borderline, green = clear. One tap to navigate.</a:t>
            </a:r>
            <a:endParaRPr lang="en-US" sz="1500" dirty="0"/>
          </a:p>
        </p:txBody>
      </p:sp>
      <p:sp>
        <p:nvSpPr>
          <p:cNvPr id="19" name="Exports for follow-up circle"/>
          <p:cNvSpPr/>
          <p:nvPr/>
        </p:nvSpPr>
        <p:spPr>
          <a:xfrm>
            <a:off x="7863840" y="4572000"/>
            <a:ext cx="566928" cy="566928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pic>
        <p:nvPicPr>
          <p:cNvPr id="20" name="Exports for follow-up" descr="Exports for follow-up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9903" y="4708063"/>
            <a:ext cx="294803" cy="294803"/>
          </a:xfrm>
          <a:prstGeom prst="rect">
            <a:avLst/>
          </a:prstGeom>
        </p:spPr>
      </p:pic>
      <p:sp>
        <p:nvSpPr>
          <p:cNvPr id="21" name="Exports for follow-up text"/>
          <p:cNvSpPr txBox="1"/>
          <p:nvPr/>
        </p:nvSpPr>
        <p:spPr>
          <a:xfrm>
            <a:off x="8686800" y="4526280"/>
            <a:ext cx="28620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Field-ready PDF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Coordinates, violation list, reference number — no paperwork needed.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52" name="Inspector Mai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6160" y="2240280"/>
            <a:ext cx="3062880" cy="3474720"/>
          </a:xfrm>
          <a:prstGeom prst="rect">
            <a:avLst/>
          </a:prstGeom>
        </p:spPr>
      </p:pic>
      <p:pic>
        <p:nvPicPr>
          <p:cNvPr id="53" name="Inspector Popup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30480" y="2240280"/>
            <a:ext cx="306288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5029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COMMUNITY VIEW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82296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Any citizen. Any phone with a browser. In Bengali.</a:t>
            </a:r>
            <a:endParaRPr lang="en-US" sz="3200" dirty="0"/>
          </a:p>
        </p:txBody>
      </p:sp>
      <p:sp>
        <p:nvSpPr>
          <p:cNvPr id="5" name="Community search circle"/>
          <p:cNvSpPr/>
          <p:nvPr/>
        </p:nvSpPr>
        <p:spPr>
          <a:xfrm>
            <a:off x="640080" y="1828800"/>
            <a:ext cx="566928" cy="566928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pic>
        <p:nvPicPr>
          <p:cNvPr id="6" name="Community search" descr="Community searc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6143" y="1964863"/>
            <a:ext cx="294803" cy="294803"/>
          </a:xfrm>
          <a:prstGeom prst="rect">
            <a:avLst/>
          </a:prstGeom>
        </p:spPr>
      </p:pic>
      <p:sp>
        <p:nvSpPr>
          <p:cNvPr id="7" name="Community search text"/>
          <p:cNvSpPr txBox="1"/>
          <p:nvPr/>
        </p:nvSpPr>
        <p:spPr>
          <a:xfrm>
            <a:off x="1463040" y="1783080"/>
            <a:ext cx="28620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Search your neighborhood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Type Savar — kilns within 2 km, color-coded by priority.</a:t>
            </a:r>
            <a:endParaRPr lang="en-US" sz="1500" dirty="0"/>
          </a:p>
        </p:txBody>
      </p:sp>
      <p:sp>
        <p:nvSpPr>
          <p:cNvPr id="8" name="Pre-filled complaint circle"/>
          <p:cNvSpPr/>
          <p:nvPr/>
        </p:nvSpPr>
        <p:spPr>
          <a:xfrm>
            <a:off x="640080" y="3200400"/>
            <a:ext cx="566928" cy="566928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pic>
        <p:nvPicPr>
          <p:cNvPr id="9" name="Pre-filled complaint" descr="Matching PDF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143" y="3336463"/>
            <a:ext cx="294803" cy="294803"/>
          </a:xfrm>
          <a:prstGeom prst="rect">
            <a:avLst/>
          </a:prstGeom>
        </p:spPr>
      </p:pic>
      <p:sp>
        <p:nvSpPr>
          <p:cNvPr id="10" name="Matching PDF text"/>
          <p:cNvSpPr txBox="1"/>
          <p:nvPr/>
        </p:nvSpPr>
        <p:spPr>
          <a:xfrm>
            <a:off x="1463040" y="3154680"/>
            <a:ext cx="28620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Pre-filled complaint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Location, violations, reference — ready to read to the DoE hotline 16131.</a:t>
            </a:r>
            <a:endParaRPr lang="en-US" sz="1500" dirty="0"/>
          </a:p>
        </p:txBody>
      </p:sp>
      <p:sp>
        <p:nvSpPr>
          <p:cNvPr id="11" name="No app store needed circle"/>
          <p:cNvSpPr/>
          <p:nvPr/>
        </p:nvSpPr>
        <p:spPr>
          <a:xfrm>
            <a:off x="640080" y="4572000"/>
            <a:ext cx="566928" cy="566928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pic>
        <p:nvPicPr>
          <p:cNvPr id="12" name="No app store needed" descr="Mobile prototyp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143" y="4708063"/>
            <a:ext cx="294803" cy="294803"/>
          </a:xfrm>
          <a:prstGeom prst="rect">
            <a:avLst/>
          </a:prstGeom>
        </p:spPr>
      </p:pic>
      <p:sp>
        <p:nvSpPr>
          <p:cNvPr id="13" name="Mobile prototype text"/>
          <p:cNvSpPr txBox="1"/>
          <p:nvPr/>
        </p:nvSpPr>
        <p:spPr>
          <a:xfrm>
            <a:off x="1463040" y="4526280"/>
            <a:ext cx="28620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No app store needed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Works on any browser. No account, no English required.</a:t>
            </a:r>
            <a:endParaRPr lang="en-US" sz="1500" dirty="0"/>
          </a:p>
        </p:txBody>
      </p:sp>
      <p:sp>
        <p:nvSpPr>
          <p:cNvPr id="14" name="Screenshot frame"/>
          <p:cNvSpPr/>
          <p:nvPr/>
        </p:nvSpPr>
        <p:spPr>
          <a:xfrm>
            <a:off x="4846320" y="1783080"/>
            <a:ext cx="6702552" cy="4069080"/>
          </a:xfrm>
          <a:prstGeom prst="roundRect">
            <a:avLst>
              <a:gd name="adj" fmla="val 269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10000"/>
              </a:srgbClr>
            </a:outerShdw>
          </a:effectLst>
        </p:spPr>
      </p:sp>
      <p:sp>
        <p:nvSpPr>
          <p:cNvPr id="15" name="Window dot 1"/>
          <p:cNvSpPr/>
          <p:nvPr/>
        </p:nvSpPr>
        <p:spPr>
          <a:xfrm>
            <a:off x="5047488" y="1938528"/>
            <a:ext cx="91440" cy="91440"/>
          </a:xfrm>
          <a:prstGeom prst="ellipse">
            <a:avLst/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16" name="Window dot 2"/>
          <p:cNvSpPr/>
          <p:nvPr/>
        </p:nvSpPr>
        <p:spPr>
          <a:xfrm>
            <a:off x="5202936" y="1938528"/>
            <a:ext cx="91440" cy="91440"/>
          </a:xfrm>
          <a:prstGeom prst="ellipse">
            <a:avLst/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17" name="Window dot 3"/>
          <p:cNvSpPr/>
          <p:nvPr/>
        </p:nvSpPr>
        <p:spPr>
          <a:xfrm>
            <a:off x="5358384" y="1938528"/>
            <a:ext cx="91440" cy="91440"/>
          </a:xfrm>
          <a:prstGeom prst="ellipse">
            <a:avLst/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18" name="Frame title"/>
          <p:cNvSpPr txBox="1"/>
          <p:nvPr/>
        </p:nvSpPr>
        <p:spPr>
          <a:xfrm>
            <a:off x="5760720" y="1856232"/>
            <a:ext cx="4873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Dhoa  ·  Community search</a:t>
            </a:r>
            <a:endParaRPr lang="en-US" sz="1100" dirty="0"/>
          </a:p>
        </p:txBody>
      </p:sp>
      <p:sp>
        <p:nvSpPr>
          <p:cNvPr id="19" name="Screenshot slot"/>
          <p:cNvSpPr/>
          <p:nvPr/>
        </p:nvSpPr>
        <p:spPr>
          <a:xfrm>
            <a:off x="4983480" y="2240280"/>
            <a:ext cx="6428232" cy="347472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dash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  <p:pic>
        <p:nvPicPr>
          <p:cNvPr id="54" name="Community Search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83480" y="2240280"/>
            <a:ext cx="3027600" cy="3474720"/>
          </a:xfrm>
          <a:prstGeom prst="rect">
            <a:avLst/>
          </a:prstGeom>
        </p:spPr>
      </p:pic>
      <p:pic>
        <p:nvPicPr>
          <p:cNvPr id="55" name="Community Report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01440" y="2240280"/>
            <a:ext cx="302760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160020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Thank you</a:t>
            </a: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26974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accent4"/>
                </a:solidFill>
              </a:rPr>
              <a:t>Because every breath counts.</a:t>
            </a:r>
            <a:endParaRPr lang="en-US" sz="2200" dirty="0"/>
          </a:p>
        </p:txBody>
      </p:sp>
      <p:sp>
        <p:nvSpPr>
          <p:cNvPr id="4" name="Team label"/>
          <p:cNvSpPr txBox="1"/>
          <p:nvPr/>
        </p:nvSpPr>
        <p:spPr>
          <a:xfrm>
            <a:off x="822960" y="3611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2"/>
                </a:solidFill>
              </a:rPr>
              <a:t>TEAM ASTRAL</a:t>
            </a:r>
            <a:endParaRPr lang="en-US" sz="1100" dirty="0"/>
          </a:p>
        </p:txBody>
      </p:sp>
      <p:sp>
        <p:nvSpPr>
          <p:cNvPr id="5" name="Team names"/>
          <p:cNvSpPr txBox="1"/>
          <p:nvPr/>
        </p:nvSpPr>
        <p:spPr>
          <a:xfrm>
            <a:off x="822960" y="393192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chemeClr val="bg1"/>
                </a:solidFill>
              </a:rPr>
              <a:t>Sheikh Mosheul Akbar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chemeClr val="bg1"/>
                </a:solidFill>
              </a:rPr>
              <a:t>Sohom Sattyam</a:t>
            </a:r>
            <a:endParaRPr lang="en-US" sz="1800" dirty="0"/>
          </a:p>
        </p:txBody>
      </p:sp>
      <p:sp>
        <p:nvSpPr>
          <p:cNvPr id="6" name="Demo label"/>
          <p:cNvSpPr txBox="1"/>
          <p:nvPr/>
        </p:nvSpPr>
        <p:spPr>
          <a:xfrm>
            <a:off x="822960" y="49377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2"/>
                </a:solidFill>
              </a:rPr>
              <a:t>LIVE DEMO</a:t>
            </a:r>
            <a:endParaRPr lang="en-US" sz="1000" dirty="0"/>
          </a:p>
        </p:txBody>
      </p:sp>
      <p:sp>
        <p:nvSpPr>
          <p:cNvPr id="7" name="Demo link"/>
          <p:cNvSpPr txBox="1"/>
          <p:nvPr/>
        </p:nvSpPr>
        <p:spPr>
          <a:xfrm>
            <a:off x="822960" y="516636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chemeClr val="accent2"/>
                </a:solidFill>
                <a:hlinkClick r:id="rId1" invalidUrl="" action="" tgtFrame="" tooltip="Open the live demo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hack-for-humanity-dhtqzvofebzbjrsyunlnmz.streamlit.app</a:t>
            </a:r>
            <a:endParaRPr lang="en-US" sz="1400" dirty="0"/>
          </a:p>
        </p:txBody>
      </p:sp>
      <p:sp>
        <p:nvSpPr>
          <p:cNvPr id="8" name="Code label"/>
          <p:cNvSpPr txBox="1"/>
          <p:nvPr/>
        </p:nvSpPr>
        <p:spPr>
          <a:xfrm>
            <a:off x="822960" y="55778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2"/>
                </a:solidFill>
              </a:rPr>
              <a:t>SOURCE CODE</a:t>
            </a:r>
            <a:endParaRPr lang="en-US" sz="1000" dirty="0"/>
          </a:p>
        </p:txBody>
      </p:sp>
      <p:sp>
        <p:nvSpPr>
          <p:cNvPr id="9" name="Code link"/>
          <p:cNvSpPr txBox="1"/>
          <p:nvPr/>
        </p:nvSpPr>
        <p:spPr>
          <a:xfrm>
            <a:off x="822960" y="580644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chemeClr val="accent2"/>
                </a:solidFill>
                <a:hlinkClick r:id="rId2" invalidUrl="" action="" tgtFrame="" tooltip="Open the repository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github.com/sheikh2583/Hack-For-Humanity</a:t>
            </a:r>
            <a:endParaRPr lang="en-US" sz="1400" dirty="0"/>
          </a:p>
        </p:txBody>
      </p:sp>
      <p:sp>
        <p:nvSpPr>
          <p:cNvPr id="10" name="QR card"/>
          <p:cNvSpPr/>
          <p:nvPr/>
        </p:nvSpPr>
        <p:spPr>
          <a:xfrm>
            <a:off x="8001000" y="1691640"/>
            <a:ext cx="3547872" cy="4343400"/>
          </a:xfrm>
          <a:prstGeom prst="roundRect">
            <a:avLst>
              <a:gd name="adj" fmla="val 3093"/>
            </a:avLst>
          </a:prstGeom>
          <a:solidFill>
            <a:schemeClr val="bg1"/>
          </a:solidFill>
          <a:ln w="9525">
            <a:solidFill>
              <a:schemeClr val="bg1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10000"/>
              </a:srgbClr>
            </a:outerShdw>
          </a:effectLst>
        </p:spPr>
      </p:sp>
      <p:pic>
        <p:nvPicPr>
          <p:cNvPr id="11" name="Demo QR code" descr="QR code linking to the Dhoa live dem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2011680"/>
            <a:ext cx="2907792" cy="2907792"/>
          </a:xfrm>
          <a:prstGeom prst="rect">
            <a:avLst/>
          </a:prstGeom>
        </p:spPr>
      </p:pic>
      <p:sp>
        <p:nvSpPr>
          <p:cNvPr id="12" name="QR caption"/>
          <p:cNvSpPr txBox="1"/>
          <p:nvPr/>
        </p:nvSpPr>
        <p:spPr>
          <a:xfrm>
            <a:off x="8183880" y="5120640"/>
            <a:ext cx="3182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Scan to open the live demo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hoa Ember">
  <a:themeElements>
    <a:clrScheme name="Dhoa Ember">
      <a:dk1>
        <a:srgbClr val="0F172A"/>
      </a:dk1>
      <a:lt1>
        <a:srgbClr val="FFFFFF"/>
      </a:lt1>
      <a:dk2>
        <a:srgbClr val="0B1016"/>
      </a:dk2>
      <a:lt2>
        <a:srgbClr val="F4F5F7"/>
      </a:lt2>
      <a:accent1>
        <a:srgbClr val="C2410C"/>
      </a:accent1>
      <a:accent2>
        <a:srgbClr val="FF8A3D"/>
      </a:accent2>
      <a:accent3>
        <a:srgbClr val="475569"/>
      </a:accent3>
      <a:accent4>
        <a:srgbClr val="CBD5E1"/>
      </a:accent4>
      <a:accent5>
        <a:srgbClr val="E2E8F0"/>
      </a:accent5>
      <a:accent6>
        <a:srgbClr val="FBE9DF"/>
      </a:accent6>
      <a:hlink>
        <a:srgbClr val="FF9A4D"/>
      </a:hlink>
      <a:folHlink>
        <a:srgbClr val="FDBA74"/>
      </a:folHlink>
    </a:clrScheme>
    <a:fontScheme name="Dhoa Ember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Team Astral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Dhoa — Team Astral</dc:title>
  <dc:subject>PptxGenJS Presentation</dc:subject>
  <dc:creator>Team Astral</dc:creator>
  <cp:lastModifiedBy>Team Astral</cp:lastModifiedBy>
  <cp:revision>1</cp:revision>
  <dcterms:created xsi:type="dcterms:W3CDTF">2026-10-18T15:13:35Z</dcterms:created>
  <dcterms:modified xsi:type="dcterms:W3CDTF">2026-10-18T15:13:35Z</dcterms:modified>
</cp:coreProperties>
</file>