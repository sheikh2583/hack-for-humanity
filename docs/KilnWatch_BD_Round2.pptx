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Project framing and event title supplied in the user request. Project status and advisory scope: docs/ROUND2_SUBMISSION.md and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112 figure is supplied by the project brief/user. The repository's docs/ROUND2_SUBMISSION.md and docs/CONSISTENCY_CHECK.md state that the supporting 2022 register was not independently checked. Do not present the figure as independently verified. Act source: official consolidated Bangladesh Act 59 of 2013, section 8, https://bdlaws.minlaw.gov.bd/act-print-1140/section-print-43613.html. Emissions wording is general framing from the user brief and was not independently researched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pipeline and limitations: docs/ARCHITECTURE.md, docs/ROUND2_SUBMISSION.md, and config/rules.yaml. The configured active siting features are schools, hospitals, and settlements. Forest and railway rules are listed as not implemented in config/rules.yaml. Sentinel-2 access conditions may include Earth Engine account, quota, export, and storage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metrics/source split: docs/ARCHITECTURE.md and docs/ROUND2_SUBMISSION.md; source run record: results/run_0002/run.json. Pilot audit figures are exploratory observations from an earlier separate manual Google Earth cross-check; the confidence cutoff was examined on the same small sample and these are not unbiased accuracy estimates. Citation: SentinelKilnDB, Mondal et al., NeurIPS 2025, https://openreview.net/forum?id=efGzsxVSEC. Dataset licence as recorded in repo: CC BY-NC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District list and current local processed output counts: docs/ROUND2_SUBMISSION.md and config/aoi.yaml. The current output is 2,150 rows (district counts: 282, 270, 257, 613, 728). Dashboard capabilities: app/streamlit_app.py. Preprocessing remains unverified in config/preprocessing.yaml, and the full pilot has not been independently validated. No claim of offline field readiness is made. The requested 4,000+ candidate estimate is not supported by the current local processed parquet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 and access limits: docs/ROUND2_SUBMISSION.md. Advisory and validation limitations: docs/ARCHITECTURE.md and config/preprocessing.yaml. The project has processed five districts but has not demonstrated national scaling or validated field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1188720"/>
            <a:ext cx="109728" cy="324612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261872"/>
            <a:ext cx="96926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>
                <a:solidFill>
                  <a:srgbClr val="F8FAFC"/>
                </a:solidFill>
                <a:latin typeface="Calibri"/>
              </a:rPr>
              <a:t>KilnWatch 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1016" y="2514600"/>
            <a:ext cx="932688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C0CFDE"/>
                </a:solidFill>
                <a:latin typeface="Calibri"/>
              </a:rPr>
              <a:t>Satellite-Based Kiln Inspection
Triage for Bangladesh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1016" y="3895344"/>
            <a:ext cx="1078992" cy="50292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1016" y="4224528"/>
            <a:ext cx="93268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8FAFC"/>
                </a:solidFill>
                <a:latin typeface="Calibri"/>
              </a:rPr>
              <a:t>Hack for Humanity 2026 — Hack to Protect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6291072"/>
            <a:ext cx="9326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3BE"/>
                </a:solidFill>
                <a:latin typeface="Calibri"/>
              </a:rPr>
              <a:t>ROUND 2  •  ADVISORY SCREENING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93776"/>
            <a:ext cx="82296" cy="621792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DD3B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52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8FAFC"/>
                </a:solidFill>
                <a:latin typeface="Calibri"/>
              </a:rPr>
              <a:t>A reported clearance gap. A prioritization challenge.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37376"/>
            <a:ext cx="10561320" cy="10972"/>
          </a:xfrm>
          <a:prstGeom prst="rect">
            <a:avLst/>
          </a:prstGeom>
          <a:solidFill>
            <a:srgbClr val="10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9326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CFDE"/>
                </a:solidFill>
                <a:latin typeface="Calibri"/>
              </a:rPr>
              <a:t>KILNWATCH BD  •  ROUND 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DD3BE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10469880" cy="868680"/>
          </a:xfrm>
          <a:prstGeom prst="roundRect">
            <a:avLst>
              <a:gd name="adj" fmla="val 8000"/>
            </a:avLst>
          </a:prstGeom>
          <a:solidFill>
            <a:srgbClr val="10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28216"/>
            <a:ext cx="2011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F8C75F"/>
                </a:solidFill>
                <a:latin typeface="Calibri"/>
              </a:rPr>
              <a:t>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55648"/>
            <a:ext cx="8183879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kilns reported without valid DoE clearance in Chapainawabganj (2022)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898648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788920"/>
            <a:ext cx="1042416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The project brief reports this clearance gap; the underlying DoE register was not independently checked for this presentation.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666744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557015"/>
            <a:ext cx="1042416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Brick kiln emissions are an environmental concern, and inspectors need practical ways to prioritize field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434840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325112"/>
            <a:ext cx="1042416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Manual visits are resource-intensive; a ranked candidate list can help inspectors decide where to look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5202936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5093208"/>
            <a:ext cx="1042416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Act 59/2013 includes siting provisions, while mapped signals are screening proxies—not legal determinations.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93776"/>
            <a:ext cx="82296" cy="621792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DD3BE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52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8FAFC"/>
                </a:solidFill>
                <a:latin typeface="Calibri"/>
              </a:rPr>
              <a:t>AI-powered inspection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37376"/>
            <a:ext cx="10561320" cy="10972"/>
          </a:xfrm>
          <a:prstGeom prst="rect">
            <a:avLst/>
          </a:prstGeom>
          <a:solidFill>
            <a:srgbClr val="10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9326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CFDE"/>
                </a:solidFill>
                <a:latin typeface="Calibri"/>
              </a:rPr>
              <a:t>KILNWATCH BD  •  ROUND 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DD3BE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892807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783080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Free Sentinel-2 imagery feeds a YOLOv8 kiln detector, project rule signals, an exposure-weighted score, and a review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52344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642615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The prototype generates kiln candidates over district imagery for human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611880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502152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Current mapped signals cover schools, hospitals, and settlements; forests and railways are not implemented in the active rules.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471416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361688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Candidates near mapped people and services can receive higher exposure priority.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5330952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5221224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The output is a ranked review list—advisory only, with no legal finding or automated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93776"/>
            <a:ext cx="82296" cy="621792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DD3BE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52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8FAFC"/>
                </a:solidFill>
                <a:latin typeface="Calibri"/>
              </a:rPr>
              <a:t>The pipeline turns imagery into a review queue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37376"/>
            <a:ext cx="10561320" cy="10972"/>
          </a:xfrm>
          <a:prstGeom prst="rect">
            <a:avLst/>
          </a:prstGeom>
          <a:solidFill>
            <a:srgbClr val="10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9326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CFDE"/>
                </a:solidFill>
                <a:latin typeface="Calibri"/>
              </a:rPr>
              <a:t>KILNWATCH BD  •  ROUND 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DD3BE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1609344"/>
            <a:ext cx="10424160" cy="1417320"/>
          </a:xfrm>
          <a:prstGeom prst="roundRect">
            <a:avLst>
              <a:gd name="adj" fmla="val 8000"/>
            </a:avLst>
          </a:prstGeom>
          <a:solidFill>
            <a:srgbClr val="10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792224"/>
            <a:ext cx="9829800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Sentinel-2 imagery  →  Patch &amp; normalize  →  YOLOv8s-OBB detection
→  OSM rule signals  →  Priority score  →  Streamlit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64992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DD3BE"/>
                </a:solidFill>
                <a:latin typeface="Calibri"/>
              </a:rPr>
              <a:t>HELD-OUT CHIP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374903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C"/>
                </a:solidFill>
                <a:latin typeface="Calibri"/>
              </a:rPr>
              <a:t>mAP50  0.752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3364992"/>
            <a:ext cx="6172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8C75F"/>
                </a:solidFill>
                <a:latin typeface="Calibri"/>
              </a:rPr>
              <a:t>EXPLORATORY PRIOR-RUN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3749039"/>
            <a:ext cx="5989320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17/30 showed visible kiln structures overall; 15/15 above confidence 0.44. The cutoff was examined on this same small sample.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5001768"/>
            <a:ext cx="10387584" cy="804672"/>
          </a:xfrm>
          <a:prstGeom prst="roundRect">
            <a:avLst>
              <a:gd name="adj" fmla="val 8000"/>
            </a:avLst>
          </a:prstGeom>
          <a:solidFill>
            <a:srgbClr val="10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138928"/>
            <a:ext cx="996696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0CFDE"/>
                </a:solidFill>
                <a:latin typeface="Calibri"/>
              </a:rPr>
              <a:t>SentinelKilnDB  •  Mondal et al., NeurIPS 2025  •  CC BY-NC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5971032"/>
            <a:ext cx="102412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8C75F"/>
                </a:solidFill>
                <a:latin typeface="Calibri"/>
              </a:rPr>
              <a:t>Test metrics are from dataset chips—not the Bangladesh raster pilot or field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93776"/>
            <a:ext cx="82296" cy="621792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DD3BE"/>
                </a:solidFill>
                <a:latin typeface="Calibri"/>
              </a:rPr>
              <a:t>PROTOTYPE AND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52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8FAFC"/>
                </a:solidFill>
                <a:latin typeface="Calibri"/>
              </a:rPr>
              <a:t>A five-district prototype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37376"/>
            <a:ext cx="10561320" cy="10972"/>
          </a:xfrm>
          <a:prstGeom prst="rect">
            <a:avLst/>
          </a:prstGeom>
          <a:solidFill>
            <a:srgbClr val="10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9326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CFDE"/>
                </a:solidFill>
                <a:latin typeface="Calibri"/>
              </a:rPr>
              <a:t>KILNWATCH BD  •  ROUND 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DD3BE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1600200"/>
            <a:ext cx="109728" cy="425196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645920"/>
            <a:ext cx="97840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2,150 candidate rows in the current local processed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505456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95728"/>
            <a:ext cx="10424160" cy="630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Chapainawabganj  •  Gazipur  •  Rajshahi  •  Dhaka  •  Chittagong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91256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081528"/>
            <a:ext cx="10424160" cy="630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Map colors indicate high, medium, and low review priority.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877056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767328"/>
            <a:ext cx="10424160" cy="630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Candidate popups show class, confidence, rule signals, and mapped-feature distances when available.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562856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453128"/>
            <a:ext cx="10424160" cy="630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Filter by class and confidence; export a CSV review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5248656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5138928"/>
            <a:ext cx="10424160" cy="630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Local processed data can be loaded; offline field use and the 2025–26 imagery pipeline have not been validated.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971032"/>
            <a:ext cx="9692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8C75F"/>
                </a:solidFill>
                <a:latin typeface="Calibri"/>
              </a:rPr>
              <a:t>The 4,000+ estimate is not supported by the current local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93776"/>
            <a:ext cx="82296" cy="621792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DD3BE"/>
                </a:solidFill>
                <a:latin typeface="Calibri"/>
              </a:rPr>
              <a:t>ENVIRONMENTAL IMPACT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52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8FAFC"/>
                </a:solidFill>
                <a:latin typeface="Calibri"/>
              </a:rPr>
              <a:t>Scalable in design. Advisory in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37376"/>
            <a:ext cx="10561320" cy="10972"/>
          </a:xfrm>
          <a:prstGeom prst="rect">
            <a:avLst/>
          </a:prstGeom>
          <a:solidFill>
            <a:srgbClr val="10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9326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CFDE"/>
                </a:solidFill>
                <a:latin typeface="Calibri"/>
              </a:rPr>
              <a:t>KILNWATCH BD  •  ROUND 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DD3BE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892807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783080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The workflow is designed to extend through an imagery export, AOI configuration, boundary-name mapping, and mapped-feature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52344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642615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Sentinel-2 data and open-source tools can support a lower-cost screening workflow; Earth Engine access, quota, export, and storage conditions may apply.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611880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502152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Exposure ranking can help inspectors focus review on candidates near mapped people and services.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471416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361688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Next: DoE pilot partnership, field validation, and additional districts with validated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5330952"/>
            <a:ext cx="91440" cy="91440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5221224"/>
            <a:ext cx="10424160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8FAFC"/>
                </a:solidFill>
                <a:latin typeface="Calibri"/>
              </a:rPr>
              <a:t>All outputs are advisory screening candidates. Human review and field verification are required before 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971032"/>
            <a:ext cx="10378440" cy="10972"/>
          </a:xfrm>
          <a:prstGeom prst="rect">
            <a:avLst/>
          </a:prstGeom>
          <a:solidFill>
            <a:srgbClr val="3D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KilnWatch BD — Round 2</dc:title>
  <dc:subject>Satellite-based kiln inspection triage for Bangladesh</dc:subject>
  <dc:creator>KilnWatch BD</dc:creator>
  <cp:keywords>kiln candidates, screening, Bangladesh, advisory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